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7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vangeline T" userId="5f34dbffa862b403" providerId="LiveId" clId="{C8AE68FD-0094-41FE-AF86-E5F42B2F9331}"/>
    <pc:docChg chg="custSel modSld">
      <pc:chgData name="Evangeline T" userId="5f34dbffa862b403" providerId="LiveId" clId="{C8AE68FD-0094-41FE-AF86-E5F42B2F9331}" dt="2025-11-08T16:34:04.474" v="52" actId="313"/>
      <pc:docMkLst>
        <pc:docMk/>
      </pc:docMkLst>
      <pc:sldChg chg="modSp mod">
        <pc:chgData name="Evangeline T" userId="5f34dbffa862b403" providerId="LiveId" clId="{C8AE68FD-0094-41FE-AF86-E5F42B2F9331}" dt="2025-11-08T16:34:04.474" v="52" actId="313"/>
        <pc:sldMkLst>
          <pc:docMk/>
          <pc:sldMk cId="1573870704" sldId="279"/>
        </pc:sldMkLst>
        <pc:spChg chg="mod">
          <ac:chgData name="Evangeline T" userId="5f34dbffa862b403" providerId="LiveId" clId="{C8AE68FD-0094-41FE-AF86-E5F42B2F9331}" dt="2025-11-08T16:34:04.474" v="52" actId="313"/>
          <ac:spMkLst>
            <pc:docMk/>
            <pc:sldMk cId="1573870704" sldId="279"/>
            <ac:spMk id="3" creationId="{1C4855C8-EF5E-D244-BAD7-C7038AEF5B51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-1588" y="0"/>
            <a:ext cx="12193588" cy="6861555"/>
            <a:chOff x="-1588" y="0"/>
            <a:chExt cx="12193588" cy="6861555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108000"/>
                    <a:satMod val="164000"/>
                    <a:lumMod val="74000"/>
                  </a:schemeClr>
                  <a:schemeClr val="dk2">
                    <a:tint val="96000"/>
                    <a:hueMod val="88000"/>
                    <a:satMod val="140000"/>
                    <a:lumMod val="13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1" name="Oval 10"/>
            <p:cNvSpPr/>
            <p:nvPr/>
          </p:nvSpPr>
          <p:spPr>
            <a:xfrm>
              <a:off x="8761412" y="18288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2" name="Oval 11"/>
            <p:cNvSpPr/>
            <p:nvPr/>
          </p:nvSpPr>
          <p:spPr>
            <a:xfrm>
              <a:off x="8761412" y="5870955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3" name="Oval 12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  <a:prstGeom prst="rect">
            <a:avLst/>
          </a:prstGeo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tx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5400000">
            <a:off x="10158984" y="1792224"/>
            <a:ext cx="990599" cy="304799"/>
          </a:xfrm>
        </p:spPr>
        <p:txBody>
          <a:bodyPr/>
          <a:lstStyle>
            <a:lvl1pPr algn="l">
              <a:defRPr b="0">
                <a:solidFill>
                  <a:schemeClr val="bg1"/>
                </a:solidFill>
              </a:defRPr>
            </a:lvl1pPr>
          </a:lstStyle>
          <a:p>
            <a:fld id="{95CB22B7-0138-4585-98E6-655308FD8D37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5400000">
            <a:off x="8951976" y="3227832"/>
            <a:ext cx="3867912" cy="310896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</a:defRPr>
            </a:lvl1pPr>
          </a:lstStyle>
          <a:p>
            <a:endParaRPr lang="en-IN"/>
          </a:p>
        </p:txBody>
      </p:sp>
      <p:sp>
        <p:nvSpPr>
          <p:cNvPr id="8" name="Rectangle 7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1008" y="292608"/>
            <a:ext cx="838199" cy="767687"/>
          </a:xfrm>
        </p:spPr>
        <p:txBody>
          <a:bodyPr/>
          <a:lstStyle>
            <a:lvl1pPr>
              <a:defRPr sz="2800" b="0" i="0">
                <a:latin typeface="+mj-lt"/>
              </a:defRPr>
            </a:lvl1pPr>
          </a:lstStyle>
          <a:p>
            <a:fld id="{683EDD64-0765-43B0-A044-8CCFFCFF8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4388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9"/>
            <a:ext cx="8825659" cy="706964"/>
          </a:xfrm>
          <a:prstGeom prst="rect">
            <a:avLst/>
          </a:prstGeo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B22B7-0138-4585-98E6-655308FD8D37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 b="1"/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EDD64-0765-43B0-A044-8CCFFCFF8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1416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1588" y="0"/>
            <a:ext cx="12193588" cy="6861555"/>
            <a:chOff x="-1588" y="0"/>
            <a:chExt cx="12193588" cy="6861555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108000"/>
                    <a:satMod val="164000"/>
                    <a:lumMod val="74000"/>
                  </a:schemeClr>
                  <a:schemeClr val="dk2">
                    <a:tint val="96000"/>
                    <a:hueMod val="88000"/>
                    <a:satMod val="140000"/>
                    <a:lumMod val="13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8761412" y="18288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8761412" y="5870955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Rectangle 8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8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7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679192"/>
            <a:ext cx="4343400" cy="2286000"/>
          </a:xfrm>
          <a:prstGeom prst="rect">
            <a:avLst/>
          </a:prstGeom>
        </p:spPr>
        <p:txBody>
          <a:bodyPr anchor="ctr" anchorCtr="0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4576" y="2679192"/>
            <a:ext cx="3758184" cy="2286000"/>
          </a:xfrm>
        </p:spPr>
        <p:txBody>
          <a:bodyPr anchor="ctr" anchorCtr="0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B22B7-0138-4585-98E6-655308FD8D37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 b="1"/>
            </a:lvl1pPr>
          </a:lstStyle>
          <a:p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EDD64-0765-43B0-A044-8CCFFCFF8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7328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969264"/>
            <a:ext cx="8825659" cy="7040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8032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76" y="2603500"/>
            <a:ext cx="4828032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B22B7-0138-4585-98E6-655308FD8D37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EDD64-0765-43B0-A044-8CCFFCFF8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9314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69264"/>
            <a:ext cx="8825659" cy="704088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6040"/>
            <a:ext cx="48280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98448"/>
            <a:ext cx="4828032" cy="284378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76" y="2606040"/>
            <a:ext cx="48280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1" y="3187921"/>
            <a:ext cx="4825160" cy="285431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B22B7-0138-4585-98E6-655308FD8D37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EDD64-0765-43B0-A044-8CCFFCFF8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4232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2144" y="969264"/>
            <a:ext cx="8825659" cy="7040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B22B7-0138-4585-98E6-655308FD8D37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EDD64-0765-43B0-A044-8CCFFCFF8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05003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B22B7-0138-4585-98E6-655308FD8D37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Rectangle 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EDD64-0765-43B0-A044-8CCFFCFF8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5871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-1588" y="0"/>
            <a:ext cx="12193588" cy="6861555"/>
            <a:chOff x="-1588" y="0"/>
            <a:chExt cx="12193588" cy="6861555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108000"/>
                    <a:satMod val="164000"/>
                    <a:lumMod val="74000"/>
                  </a:schemeClr>
                  <a:schemeClr val="dk2">
                    <a:tint val="96000"/>
                    <a:hueMod val="88000"/>
                    <a:satMod val="140000"/>
                    <a:lumMod val="13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8761412" y="18288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761412" y="5870955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8" name="Rectangle 7"/>
            <p:cNvSpPr/>
            <p:nvPr/>
          </p:nvSpPr>
          <p:spPr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298448"/>
            <a:ext cx="2793159" cy="1597152"/>
          </a:xfrm>
          <a:prstGeom prst="rect">
            <a:avLst/>
          </a:prstGeo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79008" y="1447800"/>
            <a:ext cx="5195997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3" y="3129280"/>
            <a:ext cx="2793159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tx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B22B7-0138-4585-98E6-655308FD8D37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EDD64-0765-43B0-A044-8CCFFCFF8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6694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-1588" y="0"/>
            <a:ext cx="12193588" cy="6861555"/>
            <a:chOff x="-1588" y="0"/>
            <a:chExt cx="12193588" cy="6861555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108000"/>
                    <a:satMod val="164000"/>
                    <a:lumMod val="74000"/>
                  </a:schemeClr>
                  <a:schemeClr val="dk2">
                    <a:tint val="96000"/>
                    <a:hueMod val="88000"/>
                    <a:satMod val="140000"/>
                    <a:lumMod val="13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8761412" y="18288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761412" y="5870955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8" name="Rectangle 7"/>
            <p:cNvSpPr/>
            <p:nvPr/>
          </p:nvSpPr>
          <p:spPr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693332"/>
            <a:ext cx="3860259" cy="173566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5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B22B7-0138-4585-98E6-655308FD8D37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EDD64-0765-43B0-A044-8CCFFCFF8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750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1588" y="0"/>
            <a:ext cx="12193588" cy="6861555"/>
            <a:chOff x="-1588" y="0"/>
            <a:chExt cx="12193588" cy="6861555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108000"/>
                    <a:satMod val="164000"/>
                    <a:lumMod val="74000"/>
                  </a:schemeClr>
                  <a:schemeClr val="dk2">
                    <a:tint val="96000"/>
                    <a:hueMod val="88000"/>
                    <a:satMod val="140000"/>
                    <a:lumMod val="13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8761412" y="18288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8761412" y="5870955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8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9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7" y="4969927"/>
            <a:ext cx="8825657" cy="5667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7" y="553666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tx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B22B7-0138-4585-98E6-655308FD8D37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2" name="Rectangle 11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EDD64-0765-43B0-A044-8CCFFCFF8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2622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-1588" y="0"/>
            <a:ext cx="12193588" cy="6861555"/>
            <a:chOff x="-1588" y="0"/>
            <a:chExt cx="12193588" cy="6861555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108000"/>
                    <a:satMod val="164000"/>
                    <a:lumMod val="74000"/>
                  </a:schemeClr>
                  <a:schemeClr val="dk2">
                    <a:tint val="96000"/>
                    <a:hueMod val="88000"/>
                    <a:satMod val="140000"/>
                    <a:lumMod val="13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8761412" y="18288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8761412" y="5870955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9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060704"/>
            <a:ext cx="8833104" cy="1371600"/>
          </a:xfrm>
          <a:prstGeom prst="rect">
            <a:avLst/>
          </a:prstGeom>
        </p:spPr>
        <p:txBody>
          <a:bodyPr anchor="ctr" anchorCtr="0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2144" y="3547872"/>
            <a:ext cx="8825659" cy="2478024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B22B7-0138-4585-98E6-655308FD8D37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EDD64-0765-43B0-A044-8CCFFCFF8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1796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12193588" cy="6861555"/>
            <a:chOff x="-1588" y="0"/>
            <a:chExt cx="12193588" cy="6861555"/>
          </a:xfrm>
        </p:grpSpPr>
        <p:sp>
          <p:nvSpPr>
            <p:cNvPr id="16" name="Rectangle 15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108000"/>
                    <a:satMod val="164000"/>
                    <a:lumMod val="74000"/>
                  </a:schemeClr>
                  <a:schemeClr val="dk2">
                    <a:tint val="96000"/>
                    <a:hueMod val="88000"/>
                    <a:satMod val="140000"/>
                    <a:lumMod val="13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761412" y="18288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761412" y="5870955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4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7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2" name="TextBox 11"/>
          <p:cNvSpPr txBox="1"/>
          <p:nvPr/>
        </p:nvSpPr>
        <p:spPr bwMode="gray">
          <a:xfrm>
            <a:off x="898295" y="596767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9600"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 bwMode="gray">
          <a:xfrm>
            <a:off x="9715063" y="2629300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9600" dirty="0">
                <a:solidFill>
                  <a:schemeClr val="tx2">
                    <a:lumMod val="40000"/>
                    <a:lumOff val="60000"/>
                  </a:schemeClr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980517"/>
            <a:ext cx="8460983" cy="2698249"/>
          </a:xfrm>
          <a:prstGeom prst="rect">
            <a:avLst/>
          </a:prstGeom>
        </p:spPr>
        <p:txBody>
          <a:bodyPr anchor="ctr" anchorCtr="0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 bwMode="gray">
          <a:xfrm>
            <a:off x="1945945" y="3679987"/>
            <a:ext cx="7725772" cy="34217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400" cap="small" dirty="0">
                <a:solidFill>
                  <a:schemeClr val="tx2">
                    <a:lumMod val="40000"/>
                    <a:lumOff val="60000"/>
                  </a:schemeClr>
                </a:solidFill>
                <a:latin typeface="+mn-lt"/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8"/>
            <a:ext cx="8825659" cy="997858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B22B7-0138-4585-98E6-655308FD8D37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23" name="Rectangle 2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EDD64-0765-43B0-A044-8CCFFCFF8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04858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-1588" y="0"/>
            <a:ext cx="12193588" cy="6861555"/>
            <a:chOff x="-1588" y="0"/>
            <a:chExt cx="12193588" cy="6861555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108000"/>
                    <a:satMod val="164000"/>
                    <a:lumMod val="74000"/>
                  </a:schemeClr>
                  <a:schemeClr val="dk2">
                    <a:tint val="96000"/>
                    <a:hueMod val="88000"/>
                    <a:satMod val="140000"/>
                    <a:lumMod val="13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8761412" y="18288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8761412" y="5870955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3525"/>
            <a:ext cx="8865623" cy="1819656"/>
          </a:xfrm>
          <a:prstGeom prst="rect">
            <a:avLst/>
          </a:prstGeo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9200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B22B7-0138-4585-98E6-655308FD8D37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EDD64-0765-43B0-A044-8CCFFCFF8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77962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  <a:prstGeom prst="rect">
            <a:avLst/>
          </a:prstGeo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3129168" cy="576261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4" y="3179764"/>
            <a:ext cx="3129168" cy="2847290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5380" cy="576261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4"/>
            <a:ext cx="3145380" cy="2847290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6700" y="2595032"/>
            <a:ext cx="3161029" cy="58473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6700" y="3179764"/>
            <a:ext cx="3161029" cy="2847290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384991" y="2603500"/>
            <a:ext cx="32564" cy="3423554"/>
          </a:xfrm>
          <a:prstGeom prst="line">
            <a:avLst/>
          </a:prstGeom>
          <a:ln w="12700" cmpd="sng">
            <a:solidFill>
              <a:schemeClr val="tx1">
                <a:lumMod val="75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5824" y="2603500"/>
            <a:ext cx="0" cy="3423554"/>
          </a:xfrm>
          <a:prstGeom prst="line">
            <a:avLst/>
          </a:prstGeom>
          <a:ln w="12700" cmpd="sng">
            <a:solidFill>
              <a:schemeClr val="tx1">
                <a:lumMod val="75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B22B7-0138-4585-98E6-655308FD8D37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EDD64-0765-43B0-A044-8CCFFCFF8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38591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  <a:prstGeom prst="rect">
            <a:avLst/>
          </a:prstGeom>
        </p:spPr>
        <p:txBody>
          <a:bodyPr anchor="ctr" anchorCtr="0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5"/>
            <a:ext cx="3050438" cy="57626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2" y="2610916"/>
            <a:ext cx="2691242" cy="1584094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7"/>
            <a:ext cx="3050438" cy="91794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2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8865" y="5109108"/>
            <a:ext cx="3050438" cy="91257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3433" y="4532842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3433" y="5109107"/>
            <a:ext cx="3050438" cy="917947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384245" y="2603500"/>
            <a:ext cx="1" cy="3461811"/>
          </a:xfrm>
          <a:prstGeom prst="line">
            <a:avLst/>
          </a:prstGeom>
          <a:ln w="12700" cmpd="sng">
            <a:solidFill>
              <a:schemeClr val="tx1">
                <a:lumMod val="75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807352" y="2603500"/>
            <a:ext cx="0" cy="3461811"/>
          </a:xfrm>
          <a:prstGeom prst="line">
            <a:avLst/>
          </a:prstGeom>
          <a:ln w="12700" cmpd="sng">
            <a:solidFill>
              <a:schemeClr val="tx1">
                <a:lumMod val="75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B22B7-0138-4585-98E6-655308FD8D37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EDD64-0765-43B0-A044-8CCFFCFF8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4144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595033"/>
            <a:ext cx="8825659" cy="3424768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B22B7-0138-4585-98E6-655308FD8D37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EDD64-0765-43B0-A044-8CCFFCFF8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2489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12193588" cy="6861555"/>
            <a:chOff x="-1588" y="0"/>
            <a:chExt cx="12193588" cy="6861555"/>
          </a:xfrm>
        </p:grpSpPr>
        <p:sp>
          <p:nvSpPr>
            <p:cNvPr id="15" name="Rectangle 1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108000"/>
                    <a:satMod val="164000"/>
                    <a:lumMod val="74000"/>
                  </a:schemeClr>
                  <a:schemeClr val="dk2">
                    <a:tint val="96000"/>
                    <a:hueMod val="88000"/>
                    <a:satMod val="140000"/>
                    <a:lumMod val="13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761412" y="18288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761412" y="5870955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3" name="Rectangle 12"/>
            <p:cNvSpPr/>
            <p:nvPr/>
          </p:nvSpPr>
          <p:spPr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6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76756" y="1278466"/>
            <a:ext cx="1441567" cy="4748591"/>
          </a:xfrm>
          <a:prstGeom prst="rect">
            <a:avLst/>
          </a:prstGeo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5"/>
            <a:ext cx="6256025" cy="474859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B22B7-0138-4585-98E6-655308FD8D37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20" name="Rectangle 19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EDD64-0765-43B0-A044-8CCFFCFF8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02091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-1588" y="0"/>
            <a:ext cx="12193588" cy="6861555"/>
            <a:chOff x="-1588" y="0"/>
            <a:chExt cx="12193588" cy="6861555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108000"/>
                    <a:satMod val="164000"/>
                    <a:lumMod val="74000"/>
                  </a:schemeClr>
                  <a:schemeClr val="dk2">
                    <a:tint val="96000"/>
                    <a:hueMod val="88000"/>
                    <a:satMod val="140000"/>
                    <a:lumMod val="13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1" name="Oval 20"/>
            <p:cNvSpPr/>
            <p:nvPr/>
          </p:nvSpPr>
          <p:spPr>
            <a:xfrm>
              <a:off x="8761412" y="18288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3" name="Oval 22"/>
            <p:cNvSpPr/>
            <p:nvPr/>
          </p:nvSpPr>
          <p:spPr>
            <a:xfrm>
              <a:off x="8761412" y="5870955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0" name="Oval 19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34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30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2760" y="6391656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95CB22B7-0138-4585-98E6-655308FD8D37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7784" y="6391656"/>
            <a:ext cx="3867912" cy="310896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IN"/>
          </a:p>
        </p:txBody>
      </p:sp>
      <p:sp>
        <p:nvSpPr>
          <p:cNvPr id="29" name="Rectangle 2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683EDD64-0765-43B0-A044-8CCFFCFF8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5012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  <p:sldLayoutId id="2147483715" r:id="rId13"/>
    <p:sldLayoutId id="2147483716" r:id="rId14"/>
    <p:sldLayoutId id="2147483717" r:id="rId15"/>
    <p:sldLayoutId id="2147483718" r:id="rId16"/>
    <p:sldLayoutId id="214748371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782DA-026E-9FBC-9F78-85D958C1AA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54CD60-E5CF-0AE5-15B2-2468CD7D1D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 descr="A person running with shopping bags&#10;&#10;AI-generated content may be incorrect.">
            <a:extLst>
              <a:ext uri="{FF2B5EF4-FFF2-40B4-BE49-F238E27FC236}">
                <a16:creationId xmlns:a16="http://schemas.microsoft.com/office/drawing/2014/main" id="{9D99377B-C934-AA24-2260-F231821975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0291A92-CA32-CC7B-26F8-5394E089CEDF}"/>
              </a:ext>
            </a:extLst>
          </p:cNvPr>
          <p:cNvSpPr txBox="1"/>
          <p:nvPr/>
        </p:nvSpPr>
        <p:spPr>
          <a:xfrm>
            <a:off x="6411191" y="966355"/>
            <a:ext cx="452004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200" b="1" dirty="0">
                <a:solidFill>
                  <a:schemeClr val="bg2"/>
                </a:solidFill>
                <a:latin typeface="Britannic Bold" panose="020B0903060703020204" pitchFamily="34" charset="0"/>
              </a:rPr>
              <a:t>Shopper Spectrum: Customer Segmentation and Product Recommendations </a:t>
            </a:r>
            <a:endParaRPr lang="en-IN" sz="3200" dirty="0">
              <a:solidFill>
                <a:schemeClr val="bg2"/>
              </a:solidFill>
              <a:latin typeface="Britannic Bold" panose="020B09030607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4791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6EA95-BB85-5A9A-8571-728031937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19F98-79D5-277A-0F95-5386011FC2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understand customer purchasing behavior and group them based on RFM metrics. Additionally, recommend products using item-based collaborative filtering.</a:t>
            </a:r>
            <a:endParaRPr lang="en-IN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98262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4FE21-E171-61B7-B7D8-4A028F7B2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B4DB6-DDAA-7815-987D-F33E7E7A8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OVERVIEW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DED7D1-8843-E2CE-1B0E-9B804126A5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Source: online_retail.csv</a:t>
            </a: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COLUMNS : Invoice No, Stock Code, Description, Quantity, Invoice Date, Unit Price, Customer ID, Country</a:t>
            </a:r>
          </a:p>
          <a:p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31652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E1A13-CD00-6B45-05FA-A0DFA5D37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8E570-E142-AA6E-F1D0-5B6260785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&amp; PREPARATION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06C83-2DCF-4D7D-552E-4B26F4B50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Removed duplicates and missing </a:t>
            </a:r>
            <a:r>
              <a:rPr lang="en-IN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CustomerIDs</a:t>
            </a:r>
            <a:r>
              <a:rPr lang="en-I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I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Excluded cancelled invoices (</a:t>
            </a:r>
            <a:r>
              <a:rPr lang="en-IN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InvoiceNo</a:t>
            </a:r>
            <a:r>
              <a:rPr lang="en-I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starting with “C”).</a:t>
            </a:r>
          </a:p>
          <a:p>
            <a:r>
              <a:rPr lang="en-I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Kept only positive Quantity and UnitPrice.</a:t>
            </a:r>
          </a:p>
          <a:p>
            <a:r>
              <a:rPr lang="en-I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Created TotalPrice = Quantity × UnitPrice.</a:t>
            </a:r>
          </a:p>
          <a:p>
            <a:r>
              <a:rPr lang="en-I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Converted </a:t>
            </a:r>
            <a:r>
              <a:rPr lang="en-IN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InvoiceDate</a:t>
            </a:r>
            <a:r>
              <a:rPr lang="en-I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datetime format for time-based analysis.</a:t>
            </a:r>
          </a:p>
        </p:txBody>
      </p:sp>
    </p:spTree>
    <p:extLst>
      <p:ext uri="{BB962C8B-B14F-4D97-AF65-F5344CB8AC3E}">
        <p14:creationId xmlns:p14="http://schemas.microsoft.com/office/powerpoint/2010/main" val="6840704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0BFFF-4074-B761-965D-0AAA76D60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4BD1A-6611-7DAA-C4D5-BCD659368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XPLORATORY DATA ANALYSIS</a:t>
            </a:r>
          </a:p>
        </p:txBody>
      </p:sp>
      <p:pic>
        <p:nvPicPr>
          <p:cNvPr id="7" name="Content Placeholder 6" descr="A graph with blue and black text">
            <a:extLst>
              <a:ext uri="{FF2B5EF4-FFF2-40B4-BE49-F238E27FC236}">
                <a16:creationId xmlns:a16="http://schemas.microsoft.com/office/drawing/2014/main" id="{E4A8075B-24E5-825F-965F-D891723B86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719" y="2358737"/>
            <a:ext cx="10962408" cy="4145972"/>
          </a:xfrm>
        </p:spPr>
      </p:pic>
    </p:spTree>
    <p:extLst>
      <p:ext uri="{BB962C8B-B14F-4D97-AF65-F5344CB8AC3E}">
        <p14:creationId xmlns:p14="http://schemas.microsoft.com/office/powerpoint/2010/main" val="2623658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ECB3E-72AD-BDC4-9C8F-D45672D6F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4CDB1-C9CF-3B79-D5AE-628946ECA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XPLORATORY DATA ANALYSIS</a:t>
            </a:r>
          </a:p>
        </p:txBody>
      </p:sp>
      <p:pic>
        <p:nvPicPr>
          <p:cNvPr id="6" name="Content Placeholder 5" descr="A bar graph with numbers and text">
            <a:extLst>
              <a:ext uri="{FF2B5EF4-FFF2-40B4-BE49-F238E27FC236}">
                <a16:creationId xmlns:a16="http://schemas.microsoft.com/office/drawing/2014/main" id="{E46D7603-06B8-B217-3C93-D169EE42A3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109" y="2603499"/>
            <a:ext cx="11066318" cy="3786909"/>
          </a:xfrm>
        </p:spPr>
      </p:pic>
    </p:spTree>
    <p:extLst>
      <p:ext uri="{BB962C8B-B14F-4D97-AF65-F5344CB8AC3E}">
        <p14:creationId xmlns:p14="http://schemas.microsoft.com/office/powerpoint/2010/main" val="3093005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72F1B-7865-9620-B09B-5F184518F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D5913-F6F6-628A-C4AF-1408A236F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XPLORATORY DATA ANALYSIS</a:t>
            </a:r>
          </a:p>
        </p:txBody>
      </p:sp>
      <p:pic>
        <p:nvPicPr>
          <p:cNvPr id="6" name="Content Placeholder 5" descr="A graph with a line and a blue line">
            <a:extLst>
              <a:ext uri="{FF2B5EF4-FFF2-40B4-BE49-F238E27FC236}">
                <a16:creationId xmlns:a16="http://schemas.microsoft.com/office/drawing/2014/main" id="{7D19DC30-3DBA-8CE0-F9A8-CABA1E354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300" y="2603500"/>
            <a:ext cx="11112500" cy="4000500"/>
          </a:xfrm>
        </p:spPr>
      </p:pic>
    </p:spTree>
    <p:extLst>
      <p:ext uri="{BB962C8B-B14F-4D97-AF65-F5344CB8AC3E}">
        <p14:creationId xmlns:p14="http://schemas.microsoft.com/office/powerpoint/2010/main" val="2709768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10FAD-AECA-6D00-0481-C95B947FA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0C048-D416-345D-175F-0CB4D48D3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XPLORATORY DATA ANALYSIS</a:t>
            </a:r>
          </a:p>
        </p:txBody>
      </p:sp>
      <p:pic>
        <p:nvPicPr>
          <p:cNvPr id="11" name="Content Placeholder 10" descr="A graph with numbers and a number of people">
            <a:extLst>
              <a:ext uri="{FF2B5EF4-FFF2-40B4-BE49-F238E27FC236}">
                <a16:creationId xmlns:a16="http://schemas.microsoft.com/office/drawing/2014/main" id="{A698D838-2496-ED6E-6660-15A1346A0C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" y="2324100"/>
            <a:ext cx="11112500" cy="4279900"/>
          </a:xfrm>
        </p:spPr>
      </p:pic>
    </p:spTree>
    <p:extLst>
      <p:ext uri="{BB962C8B-B14F-4D97-AF65-F5344CB8AC3E}">
        <p14:creationId xmlns:p14="http://schemas.microsoft.com/office/powerpoint/2010/main" val="35030518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D5CD6-0A83-8C61-FDBC-DFB03A073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49DE1-B6E3-849A-DB92-7FD93E750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RFM DISTRIBUTION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Content Placeholder 5" descr="A graph of a number of data">
            <a:extLst>
              <a:ext uri="{FF2B5EF4-FFF2-40B4-BE49-F238E27FC236}">
                <a16:creationId xmlns:a16="http://schemas.microsoft.com/office/drawing/2014/main" id="{A5228358-6575-FDDC-8B24-F4C4D24A38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92" y="2327564"/>
            <a:ext cx="11014364" cy="4031672"/>
          </a:xfrm>
        </p:spPr>
      </p:pic>
    </p:spTree>
    <p:extLst>
      <p:ext uri="{BB962C8B-B14F-4D97-AF65-F5344CB8AC3E}">
        <p14:creationId xmlns:p14="http://schemas.microsoft.com/office/powerpoint/2010/main" val="20106999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6FE6C-FB41-8C63-22A5-87AF19590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82EAC-09D5-EF51-D106-03DD6FCD7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RFM FEATURE ENGINEERING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5F95B2-C334-BF4D-FBB1-02B63C079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Recency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Days since last purchase.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Number of unique invoices.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Monetary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Total spend per customer.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 date = latest invoice + 1 day.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RFM table exported for further modeling.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04230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780C-CA3B-24E4-121B-E930A8A5C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41096-399A-8BEB-9403-D6E8E07E3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TRANSFORMATION &amp; SCALING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EC8013-23D0-7F4B-E05B-7AEA016C10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Applied log transformation to normalize skewed RFM features.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Standardized values using Standard Scaler.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Ensured balanced weight for clustering.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345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1A6FF-A5C7-0141-79E3-22EC35B28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F732D-FBD5-DDD8-680C-D5D51CF7E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CLUSTERING (K MEAN)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077C7-6A91-4CE2-0576-8E57E9C583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Elbow Method to determine optimal K (4 clusters).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Clustered customers into: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High-Value Customers – low Recency, high Frequency &amp; Monetary.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Regular Customers – consistent engagement.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Occasional Buyers – irregular purchase pattern.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At-Risk Customers – inactive for a long time.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62546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05865-E570-7FDC-96CB-5E1575229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29729-B9BF-41C6-860E-ADF6431D3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CLUSTERING (K MEAN)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8620AC-1481-9368-7038-7906254E9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Elbow Method to determine optimal K (4 clusters).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Clustered customers into: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High-Value Customers – low Recency, high Frequency &amp; Monetary.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Regular Customers – consistent engagement.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Occasional Buyers – irregular purchase pattern.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At-Risk Customers – inactive for a long time.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52745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E309C-79D5-E689-E9A9-D5A08DA2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SEGMENT LABELING</a:t>
            </a:r>
          </a:p>
        </p:txBody>
      </p:sp>
      <p:pic>
        <p:nvPicPr>
          <p:cNvPr id="5" name="Content Placeholder 4" descr="A table with text on it">
            <a:extLst>
              <a:ext uri="{FF2B5EF4-FFF2-40B4-BE49-F238E27FC236}">
                <a16:creationId xmlns:a16="http://schemas.microsoft.com/office/drawing/2014/main" id="{D679E516-725C-B436-7558-F65445E819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116" y="2213264"/>
            <a:ext cx="5597570" cy="4364181"/>
          </a:xfrm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074ADA5-A55A-D147-35B5-541F6D830039}"/>
              </a:ext>
            </a:extLst>
          </p:cNvPr>
          <p:cNvSpPr txBox="1">
            <a:spLocks/>
          </p:cNvSpPr>
          <p:nvPr/>
        </p:nvSpPr>
        <p:spPr>
          <a:xfrm>
            <a:off x="6096000" y="2620817"/>
            <a:ext cx="5516010" cy="3769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ordering of clusters.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Segment labels applied: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High-Value ---loyal VIP customers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Regular ---steady buyers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Occasional --- moderate potential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At-Risk --- reactivation targets.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segment used for targeted marketing actions.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020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EB31D-056D-290A-8EE3-6C7D04EDE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B61CF-C160-FCA1-345A-CB7EFC439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COLLABORATIVE FILTERING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BA77A5-453A-9348-C76B-2C252E5747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93081" y="2603500"/>
            <a:ext cx="4525386" cy="3416300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 Item–Item Cosine Similarity Matrix from purchase patterns.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Identified top 20 frequently bought products.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Generated Product Recommendation Heatmap to visualize correlations.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 descr="A screenshot of a computer screen">
            <a:extLst>
              <a:ext uri="{FF2B5EF4-FFF2-40B4-BE49-F238E27FC236}">
                <a16:creationId xmlns:a16="http://schemas.microsoft.com/office/drawing/2014/main" id="{DBD884AC-5F7C-4089-91D9-C4053D9572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764" y="2327564"/>
            <a:ext cx="6380018" cy="413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4740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4307E-E922-93C6-EFB5-0E5B590A7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STREAMLIT APP DASHBOARD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FA6EA-8725-E116-0C55-606784A9F1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User-friendly dashboard for: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Viewing RFM clusters and segment summaries.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Entering product name - getting recommended products.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07605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F1E7C-799C-9BB4-2E12-DCDBE187C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SEGMENTATION-RFM prediction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Content Placeholder 4" descr="A screenshot of a computer">
            <a:extLst>
              <a:ext uri="{FF2B5EF4-FFF2-40B4-BE49-F238E27FC236}">
                <a16:creationId xmlns:a16="http://schemas.microsoft.com/office/drawing/2014/main" id="{07DC217D-9B97-CFA2-93F1-E4AFCCDC5E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455" y="2379518"/>
            <a:ext cx="10702636" cy="4208318"/>
          </a:xfrm>
        </p:spPr>
      </p:pic>
    </p:spTree>
    <p:extLst>
      <p:ext uri="{BB962C8B-B14F-4D97-AF65-F5344CB8AC3E}">
        <p14:creationId xmlns:p14="http://schemas.microsoft.com/office/powerpoint/2010/main" val="42675852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12F60-2A0A-EFE1-D980-ABF1A52E8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AA460-FA73-CE35-7194-2F06CA76A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SEGMENTATION-RFM prediction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Content Placeholder 6" descr="A screenshot of a computer">
            <a:extLst>
              <a:ext uri="{FF2B5EF4-FFF2-40B4-BE49-F238E27FC236}">
                <a16:creationId xmlns:a16="http://schemas.microsoft.com/office/drawing/2014/main" id="{B009A414-A20D-8599-BCD9-273E90FFF2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422" y="2306782"/>
            <a:ext cx="11062487" cy="4145974"/>
          </a:xfrm>
        </p:spPr>
      </p:pic>
    </p:spTree>
    <p:extLst>
      <p:ext uri="{BB962C8B-B14F-4D97-AF65-F5344CB8AC3E}">
        <p14:creationId xmlns:p14="http://schemas.microsoft.com/office/powerpoint/2010/main" val="41564757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ADA09-BABF-942F-CF76-090920559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540FE-108B-8B6B-0764-3DF428D20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SEGMENTATION-RFM prediction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Content Placeholder 5" descr="A screenshot of a computer">
            <a:extLst>
              <a:ext uri="{FF2B5EF4-FFF2-40B4-BE49-F238E27FC236}">
                <a16:creationId xmlns:a16="http://schemas.microsoft.com/office/drawing/2014/main" id="{FB3E7B29-D866-7332-12D5-121C2AA3F6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06" y="2400300"/>
            <a:ext cx="10869267" cy="4249882"/>
          </a:xfrm>
        </p:spPr>
      </p:pic>
    </p:spTree>
    <p:extLst>
      <p:ext uri="{BB962C8B-B14F-4D97-AF65-F5344CB8AC3E}">
        <p14:creationId xmlns:p14="http://schemas.microsoft.com/office/powerpoint/2010/main" val="41840559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DA152-A619-A288-4B35-CABA3A520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B100-936B-931D-894B-DB1DA55F2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SEGMENTATION-RFM prediction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Content Placeholder 10" descr="A screenshot of a computer">
            <a:extLst>
              <a:ext uri="{FF2B5EF4-FFF2-40B4-BE49-F238E27FC236}">
                <a16:creationId xmlns:a16="http://schemas.microsoft.com/office/drawing/2014/main" id="{3F0A655B-7AE2-EF5D-8585-1A7419698A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91" y="2400301"/>
            <a:ext cx="11035145" cy="4197926"/>
          </a:xfrm>
        </p:spPr>
      </p:pic>
    </p:spTree>
    <p:extLst>
      <p:ext uri="{BB962C8B-B14F-4D97-AF65-F5344CB8AC3E}">
        <p14:creationId xmlns:p14="http://schemas.microsoft.com/office/powerpoint/2010/main" val="6743111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71BFF-3127-44F1-876C-78A0D0C0F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48BE0-3B28-B736-C8A1-4515FB58F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SEGMENTATION-RFM prediction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37EC578-A5D7-289B-0298-8E8CBD9C18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154" y="2317173"/>
            <a:ext cx="11242963" cy="4135581"/>
          </a:xfrm>
        </p:spPr>
      </p:pic>
    </p:spTree>
    <p:extLst>
      <p:ext uri="{BB962C8B-B14F-4D97-AF65-F5344CB8AC3E}">
        <p14:creationId xmlns:p14="http://schemas.microsoft.com/office/powerpoint/2010/main" val="27948743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15461-3F1D-6A0C-D0FD-F9F695C09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EF1C6-619C-CAA5-2DFA-30C54BFE5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 SEGMENTATION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Content Placeholder 6" descr="A screenshot of a computer">
            <a:extLst>
              <a:ext uri="{FF2B5EF4-FFF2-40B4-BE49-F238E27FC236}">
                <a16:creationId xmlns:a16="http://schemas.microsoft.com/office/drawing/2014/main" id="{EC2A512F-D9D1-7155-C6BF-84AAA29CD9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286" y="2410691"/>
            <a:ext cx="10982405" cy="4156363"/>
          </a:xfrm>
        </p:spPr>
      </p:pic>
    </p:spTree>
    <p:extLst>
      <p:ext uri="{BB962C8B-B14F-4D97-AF65-F5344CB8AC3E}">
        <p14:creationId xmlns:p14="http://schemas.microsoft.com/office/powerpoint/2010/main" val="24277330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47F41-83A7-A1D5-6F3B-8B40D7F8F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F6AD6-1700-ADD9-7EFC-614A5C8CE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 SEGMENTATION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Content Placeholder 5" descr="A screenshot of a product recommendation form">
            <a:extLst>
              <a:ext uri="{FF2B5EF4-FFF2-40B4-BE49-F238E27FC236}">
                <a16:creationId xmlns:a16="http://schemas.microsoft.com/office/drawing/2014/main" id="{77701FB2-884D-8465-A7C9-9EBD279AF2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466" y="2493818"/>
            <a:ext cx="11111134" cy="4021282"/>
          </a:xfrm>
        </p:spPr>
      </p:pic>
    </p:spTree>
    <p:extLst>
      <p:ext uri="{BB962C8B-B14F-4D97-AF65-F5344CB8AC3E}">
        <p14:creationId xmlns:p14="http://schemas.microsoft.com/office/powerpoint/2010/main" val="6183558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7ECFB-FD59-4686-E465-DCAA25456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ENHANCEMENTS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855C8-EF5E-D244-BAD7-C7038AEF5B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time-based recommendation models (sequential purchases).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 live product catalogue &amp; pricing API for dynamic insights.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 as a multi-user cloud app.</a:t>
            </a:r>
          </a:p>
        </p:txBody>
      </p:sp>
    </p:spTree>
    <p:extLst>
      <p:ext uri="{BB962C8B-B14F-4D97-AF65-F5344CB8AC3E}">
        <p14:creationId xmlns:p14="http://schemas.microsoft.com/office/powerpoint/2010/main" val="157387070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EC7F02AD-9687-440F-A9DF-FAA6F22270D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248</TotalTime>
  <Words>429</Words>
  <Application>Microsoft Office PowerPoint</Application>
  <PresentationFormat>Widescreen</PresentationFormat>
  <Paragraphs>68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Britannic Bold</vt:lpstr>
      <vt:lpstr>Century Gothic</vt:lpstr>
      <vt:lpstr>Times New Roman</vt:lpstr>
      <vt:lpstr>Wingdings 3</vt:lpstr>
      <vt:lpstr>Ion Boardroom</vt:lpstr>
      <vt:lpstr>PowerPoint Presentation</vt:lpstr>
      <vt:lpstr>PROJECT OVERVIEW</vt:lpstr>
      <vt:lpstr>DATASET OVERVIEW</vt:lpstr>
      <vt:lpstr>DATA CLEANING &amp; PREPARATION</vt:lpstr>
      <vt:lpstr>EXPLORATORY DATA ANALYSIS</vt:lpstr>
      <vt:lpstr>EXPLORATORY DATA ANALYSIS</vt:lpstr>
      <vt:lpstr>EXPLORATORY DATA ANALYSIS</vt:lpstr>
      <vt:lpstr>EXPLORATORY DATA ANALYSIS</vt:lpstr>
      <vt:lpstr>RFM DISTRIBUTION</vt:lpstr>
      <vt:lpstr>RFM FEATURE ENGINEERING</vt:lpstr>
      <vt:lpstr>DATA TRANSFORMATION &amp; SCALING</vt:lpstr>
      <vt:lpstr>CLUSTERING (K MEAN)</vt:lpstr>
      <vt:lpstr>CLUSTERING (K MEAN)</vt:lpstr>
      <vt:lpstr>SEGMENT LABELING</vt:lpstr>
      <vt:lpstr>COLLABORATIVE FILTERING</vt:lpstr>
      <vt:lpstr>STREAMLIT APP DASHBOARD</vt:lpstr>
      <vt:lpstr>CUSTOMER SEGMENTATION-RFM prediction</vt:lpstr>
      <vt:lpstr>CUSTOMER SEGMENTATION-RFM prediction</vt:lpstr>
      <vt:lpstr>CUSTOMER SEGMENTATION-RFM prediction</vt:lpstr>
      <vt:lpstr>CUSTOMER SEGMENTATION-RFM prediction</vt:lpstr>
      <vt:lpstr>CUSTOMER SEGMENTATION-RFM prediction</vt:lpstr>
      <vt:lpstr>PRODUCT SEGMENTATION</vt:lpstr>
      <vt:lpstr>PRODUCT SEGMENTATION</vt:lpstr>
      <vt:lpstr>FUTURE ENHANCEMENTS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Evangeline T</dc:creator>
  <cp:lastModifiedBy>Evangeline T</cp:lastModifiedBy>
  <cp:revision>2</cp:revision>
  <dcterms:created xsi:type="dcterms:W3CDTF">2025-11-08T12:25:44Z</dcterms:created>
  <dcterms:modified xsi:type="dcterms:W3CDTF">2025-11-08T16:34:11Z</dcterms:modified>
</cp:coreProperties>
</file>